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F4B3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6FA84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291840" cy="960120"/>
          </a:xfrm>
          <a:prstGeom prst="rect">
            <a:avLst>
              <a:gd name="adj" fmla="val 7619"/>
            </a:avLst>
          </a:prstGeom>
          <a:solidFill>
            <a:srgbClr val="FFFFFF"/>
          </a:solidFill>
          <a:ln/>
        </p:spPr>
      </p:sp>
      <p:pic>
        <p:nvPicPr>
          <p:cNvPr id="5" name="Image 0" descr="assets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2962656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Presentation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AgriConnect: Smart Agribusiness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&amp; Marketplace Platform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48640" y="3886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 and Prototype Development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4434840"/>
            <a:ext cx="11064240" cy="1691640"/>
          </a:xfrm>
          <a:prstGeom prst="rect">
            <a:avLst>
              <a:gd name="adj" fmla="val 3243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46177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48737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Anish Kumar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20440" y="46177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20440" y="48737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YI/2026/183999/408535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17920" y="46177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17920" y="48737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3rd Semester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915400" y="46177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915400" y="48737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 Intern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22960" y="5623560"/>
            <a:ext cx="10515600" cy="0"/>
          </a:xfrm>
          <a:prstGeom prst="line">
            <a:avLst/>
          </a:prstGeom>
          <a:noFill/>
          <a:ln w="12700">
            <a:solidFill>
              <a:srgbClr val="E1E7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574243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Duration: Week 2 – Week 3   |   Focus Area: Software Architecture, Backend Prototyping &amp; Unit Testing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115568"/>
          </a:xfrm>
          <a:prstGeom prst="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  <a:effectLst>
            <a:outerShdw sx="100000" sy="100000" kx="0" ky="0" algn="bl" rotWithShape="0" blurRad="76200" dist="25400" dir="5400000">
              <a:srgbClr val="1F4B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6479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17647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AgriConnect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1305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 and platform 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1115568"/>
          </a:xfrm>
          <a:prstGeom prst="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  <a:effectLst>
            <a:outerShdw sx="100000" sy="100000" kx="0" ky="0" algn="bl" rotWithShape="0" blurRad="76200" dist="25400" dir="5400000">
              <a:srgbClr val="1F4B3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76479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23760" y="17647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Principles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23760" y="21305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principles guiding every design decision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49240" cy="1115568"/>
          </a:xfrm>
          <a:prstGeom prst="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  <a:effectLst>
            <a:outerShdw sx="100000" sy="100000" kx="0" ky="0" algn="bl" rotWithShape="0" blurRad="76200" dist="25400" dir="5400000">
              <a:srgbClr val="1F4B36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04495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08760" y="304495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41071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architecture, data flow, and sequence diagrams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880360"/>
            <a:ext cx="5349240" cy="1115568"/>
          </a:xfrm>
          <a:prstGeom prst="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  <a:effectLst>
            <a:outerShdw sx="100000" sy="100000" kx="0" ky="0" algn="bl" rotWithShape="0" blurRad="76200" dist="25400" dir="5400000">
              <a:srgbClr val="1F4B36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04495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304495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0" y="341071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 topology and network segmentation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5349240" cy="1115568"/>
          </a:xfrm>
          <a:prstGeom prst="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  <a:effectLst>
            <a:outerShdw sx="100000" sy="100000" kx="0" ky="0" algn="bl" rotWithShape="0" blurRad="76200" dist="25400" dir="5400000">
              <a:srgbClr val="1F4B36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32511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508760" y="432511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Modules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6908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justification and microservice interfaces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160520"/>
            <a:ext cx="5349240" cy="1115568"/>
          </a:xfrm>
          <a:prstGeom prst="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  <a:effectLst>
            <a:outerShdw sx="100000" sy="100000" kx="0" ky="0" algn="bl" rotWithShape="0" blurRad="76200" dist="25400" dir="5400000">
              <a:srgbClr val="1F4B36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432511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223760" y="432511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Security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23760" y="46908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Internal/external integration and security model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5349240" cy="1115568"/>
          </a:xfrm>
          <a:prstGeom prst="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  <a:effectLst>
            <a:outerShdw sx="100000" sy="100000" kx="0" ky="0" algn="bl" rotWithShape="0" blurRad="76200" dist="25400" dir="5400000">
              <a:srgbClr val="1F4B36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560527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508760" y="56052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&amp; Testing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08760" y="59710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code implementation and unit-test results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5440680"/>
            <a:ext cx="5349240" cy="1115568"/>
          </a:xfrm>
          <a:prstGeom prst="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  <a:effectLst>
            <a:outerShdw sx="100000" sy="100000" kx="0" ky="0" algn="bl" rotWithShape="0" blurRad="76200" dist="25400" dir="5400000">
              <a:srgbClr val="1F4B36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2240" y="560527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E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223760" y="56052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223760" y="59710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resolved and conclusions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AgriConnect — Internship Presentation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AgriConnect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92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AgriConnect is a cloud-based agribusiness platform connecting smallholder and commercial farmers with buyers, traders, and logistics providers — while giving farmers tools to monitor farm conditions through low-cost IoT sensors.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6492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Week 1 discovery requirements — produce listing, buyer discovery and ordering, secure payments, delivery coordination, and real-time farm monitoring — the platform is designed as a layered, microservices-based architecture on public cloud infrastructure.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6492240" cy="1417320"/>
          </a:xfrm>
          <a:prstGeom prst="rect">
            <a:avLst>
              <a:gd name="adj" fmla="val 3871"/>
            </a:avLst>
          </a:prstGeom>
          <a:solidFill>
            <a:srgbClr val="F6F8F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75488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4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194560" y="495604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4800600"/>
            <a:ext cx="0" cy="1005840"/>
          </a:xfrm>
          <a:prstGeom prst="line">
            <a:avLst/>
          </a:prstGeom>
          <a:noFill/>
          <a:ln w="12700">
            <a:solidFill>
              <a:srgbClr val="E1E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475488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4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989320" y="495604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channels: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USSD/SMS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1508760"/>
            <a:ext cx="4297680" cy="4526280"/>
          </a:xfrm>
          <a:prstGeom prst="rect">
            <a:avLst>
              <a:gd name="adj" fmla="val 1489"/>
            </a:avLst>
          </a:prstGeom>
          <a:solidFill>
            <a:srgbClr val="153526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2240280"/>
            <a:ext cx="502920" cy="50292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15" name="Image 0" descr="assets/icon_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5260" y="235458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366760" y="221284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366760" y="2514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produce, monitor farms via IoT, sell via app or USSD/SMS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680960" y="3200400"/>
            <a:ext cx="502920" cy="50292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19" name="Image 1" descr="assets/icon_exchang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260" y="331470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366760" y="317296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&amp; Traders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8366760" y="34747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produce, place orders, track delivery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680960" y="4160520"/>
            <a:ext cx="502920" cy="50292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23" name="Image 2" descr="assets/icon_serv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60" y="427482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66760" y="41330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Partners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366760" y="4434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delivery and shipment status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7680960" y="5120640"/>
            <a:ext cx="502920" cy="50292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27" name="Image 3" descr="assets/icon_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260" y="523494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366760" y="509320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8366760" y="5394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analytics, compliance, and platform health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AgriConnect — Internship Presentation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DESIGN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Guiding Architecture Principles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0048" cy="4114800"/>
          </a:xfrm>
          <a:prstGeom prst="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  <a:effectLst>
            <a:outerShdw sx="100000" sy="100000" kx="0" ky="0" algn="bl" rotWithShape="0" blurRad="76200" dist="25400" dir="5400000">
              <a:srgbClr val="1F4B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685800" cy="68580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6" name="Image 0" descr="assets/icon_mobi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4825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Inclusivity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566160"/>
            <a:ext cx="221284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marketplace functions remain reachable by farmers on basic feature phones via USSD/SMS, not only smartphone users.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9856" y="1600200"/>
            <a:ext cx="2670048" cy="4114800"/>
          </a:xfrm>
          <a:prstGeom prst="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  <a:effectLst>
            <a:outerShdw sx="100000" sy="100000" kx="0" ky="0" algn="bl" rotWithShape="0" blurRad="76200" dist="25400" dir="5400000">
              <a:srgbClr val="1F4B3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48456" y="1874520"/>
            <a:ext cx="685800" cy="68580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11" name="Image 1" descr="assets/icon_wifi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04825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8456" y="2743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 to Intermittent Connectivity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48456" y="3566160"/>
            <a:ext cx="221284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clients support offline data capture with background synchronization once connectivity resumes.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91072" y="1600200"/>
            <a:ext cx="2670048" cy="4114800"/>
          </a:xfrm>
          <a:prstGeom prst="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  <a:effectLst>
            <a:outerShdw sx="100000" sy="100000" kx="0" ky="0" algn="bl" rotWithShape="0" blurRad="76200" dist="25400" dir="5400000">
              <a:srgbClr val="1F4B3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19672" y="1874520"/>
            <a:ext cx="685800" cy="68580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16" name="Image 2" descr="assets/icon_cha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04825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9672" y="2743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Scalability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19672" y="3566160"/>
            <a:ext cx="221284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traffic, sensor telemetry, and payments scale differently and are decoupled so a spike in one doesn't degrade another.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62288" y="1600200"/>
            <a:ext cx="2670048" cy="4114800"/>
          </a:xfrm>
          <a:prstGeom prst="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  <a:effectLst>
            <a:outerShdw sx="100000" sy="100000" kx="0" ky="0" algn="bl" rotWithShape="0" blurRad="76200" dist="25400" dir="5400000">
              <a:srgbClr val="1F4B3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90888" y="1874520"/>
            <a:ext cx="685800" cy="68580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21" name="Image 3" descr="assets/icon_lo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204825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90888" y="2743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Trust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90888" y="3566160"/>
            <a:ext cx="221284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transactions and farmer identity data require strong authentication, encryption, and auditability.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AgriConnect — Internship Presentation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horizontal layers — client, API Gateway, microservices, message broker, and data — with external integrations shown separately since they are consumed by multiple services.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515600" cy="4434840"/>
          </a:xfrm>
          <a:prstGeom prst="rect">
            <a:avLst>
              <a:gd name="adj" fmla="val 1031"/>
            </a:avLst>
          </a:prstGeom>
          <a:solidFill>
            <a:srgbClr val="F6F8F3"/>
          </a:solidFill>
          <a:ln w="12700">
            <a:solidFill>
              <a:srgbClr val="E1E7DE"/>
            </a:solidFill>
            <a:prstDash val="solid"/>
          </a:ln>
        </p:spPr>
      </p:sp>
      <p:pic>
        <p:nvPicPr>
          <p:cNvPr id="6" name="Image 0" descr="assets/62d3115ab6c3b0a420b91208b0834a4938e14c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874520"/>
            <a:ext cx="9692640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AgriConnect — Internship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Level-1 Data Flow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away service boundaries to show how information moves between the Farmer, Buyer/Trader, and Payment Gateway, and what is persisted to the two principal data stores.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37360" y="1737360"/>
            <a:ext cx="8686800" cy="4434840"/>
          </a:xfrm>
          <a:prstGeom prst="rect">
            <a:avLst>
              <a:gd name="adj" fmla="val 1031"/>
            </a:avLst>
          </a:prstGeom>
          <a:solidFill>
            <a:srgbClr val="F6F8F3"/>
          </a:solidFill>
          <a:ln w="12700">
            <a:solidFill>
              <a:srgbClr val="E1E7DE"/>
            </a:solidFill>
            <a:prstDash val="solid"/>
          </a:ln>
        </p:spPr>
      </p:sp>
      <p:pic>
        <p:nvPicPr>
          <p:cNvPr id="6" name="Image 0" descr="assets/9e42c533063d13bf6630063b7de60a415c49e4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965960"/>
            <a:ext cx="786384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AgriConnect — Internship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Interaction: "Place Order" Sequence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representative user action — a buyer placing an order — traced end to end across the API Gateway, Order, Payment, and Notification services.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88720" y="1737360"/>
            <a:ext cx="9784080" cy="4434840"/>
          </a:xfrm>
          <a:prstGeom prst="rect">
            <a:avLst>
              <a:gd name="adj" fmla="val 1031"/>
            </a:avLst>
          </a:prstGeom>
          <a:solidFill>
            <a:srgbClr val="F6F8F3"/>
          </a:solidFill>
          <a:ln w="12700">
            <a:solidFill>
              <a:srgbClr val="E1E7DE"/>
            </a:solidFill>
            <a:prstDash val="solid"/>
          </a:ln>
        </p:spPr>
      </p:sp>
      <p:pic>
        <p:nvPicPr>
          <p:cNvPr id="6" name="Image 0" descr="assets/0e658f73361d0c38831c201368892a704e9d4a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874520"/>
            <a:ext cx="9235440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AgriConnect — Internship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 on AWS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run as containers on ECS Fargate in a private subnet, reachable only through the Application Load Balancer; IoT sensor traffic uses a separate ingestion path via AWS IoT Core.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37360" y="1737360"/>
            <a:ext cx="8686800" cy="4434840"/>
          </a:xfrm>
          <a:prstGeom prst="rect">
            <a:avLst>
              <a:gd name="adj" fmla="val 1031"/>
            </a:avLst>
          </a:prstGeom>
          <a:solidFill>
            <a:srgbClr val="F6F8F3"/>
          </a:solidFill>
          <a:ln w="12700">
            <a:solidFill>
              <a:srgbClr val="E1E7DE"/>
            </a:solidFill>
            <a:prstDash val="solid"/>
          </a:ln>
        </p:spPr>
      </p:sp>
      <p:pic>
        <p:nvPicPr>
          <p:cNvPr id="6" name="Image 0" descr="assets/1c50fbc83e0c6dc9cfb4693681d8dd789e8ca6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874520"/>
            <a:ext cx="8229600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AgriConnect — Internship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DESIGN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Justification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were driven by affordability, low-connectivity support for rural users, and independent scaling of marketplace and IoT workloads.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389120"/>
        </p:xfrm>
        <a:graphic>
          <a:graphicData uri="http://schemas.openxmlformats.org/drawingml/2006/table">
            <a:tbl>
              <a:tblPr/>
              <a:tblGrid>
                <a:gridCol w="2743200"/>
                <a:gridCol w="3383280"/>
                <a:gridCol w="49377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B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/ Web 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 + React.js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patterns, offline-first sync for rural 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Low-Connectivity 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USSD/SMS (Africa's Talking)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feature-phone farmers with no data plan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Kong / AWS API Gateway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auth, throttling, routing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Services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(Express)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Non-blocking I/O for high-concurrency workloads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Messaging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Kafka / RabbitMQ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Decouples services; buffers bursty IoT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 compliance for financial &amp; order transactions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/ Time-series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schema for sensor &amp; crop-log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Sub-millisecond reads for sessions &amp; rate limits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Connectivity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3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via AWS IoT 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Lightweight, low-power protocol with device 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AgriConnect — Internship Presentation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DESIGN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 &amp; Module Responsibilities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microservice owns a single bounded context and exposes a versioned REST API (with one MQTT exception for sensor ingestion).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70048" cy="1508760"/>
          </a:xfrm>
          <a:prstGeom prst="rect">
            <a:avLst>
              <a:gd name="adj" fmla="val 3636"/>
            </a:avLst>
          </a:prstGeom>
          <a:solidFill>
            <a:srgbClr val="F6F8F3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75688"/>
            <a:ext cx="73152" cy="1106424"/>
          </a:xfrm>
          <a:prstGeom prst="rect">
            <a:avLst/>
          </a:prstGeom>
          <a:solidFill>
            <a:srgbClr val="6FA84B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Identity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6243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auth, RBAC, profiles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9856" y="1874520"/>
            <a:ext cx="2670048" cy="1508760"/>
          </a:xfrm>
          <a:prstGeom prst="rect">
            <a:avLst>
              <a:gd name="adj" fmla="val 3636"/>
            </a:avLst>
          </a:prstGeom>
          <a:solidFill>
            <a:srgbClr val="F6F8F3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2736" y="2075688"/>
            <a:ext cx="73152" cy="1106424"/>
          </a:xfrm>
          <a:prstGeom prst="rect">
            <a:avLst/>
          </a:prstGeom>
          <a:solidFill>
            <a:srgbClr val="6FA84B"/>
          </a:solidFill>
          <a:ln/>
        </p:spPr>
      </p:sp>
      <p:sp>
        <p:nvSpPr>
          <p:cNvPr id="11" name="Text 9"/>
          <p:cNvSpPr/>
          <p:nvPr/>
        </p:nvSpPr>
        <p:spPr>
          <a:xfrm>
            <a:off x="3803904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&amp; Crop Mgmt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803904" y="26243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profiles, crop cycle tracking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91072" y="1874520"/>
            <a:ext cx="2670048" cy="1508760"/>
          </a:xfrm>
          <a:prstGeom prst="rect">
            <a:avLst>
              <a:gd name="adj" fmla="val 3636"/>
            </a:avLst>
          </a:prstGeom>
          <a:solidFill>
            <a:srgbClr val="F6F8F3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2075688"/>
            <a:ext cx="73152" cy="1106424"/>
          </a:xfrm>
          <a:prstGeom prst="rect">
            <a:avLst/>
          </a:prstGeom>
          <a:solidFill>
            <a:srgbClr val="6FA84B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Ingestion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75120" y="26243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MQTT sensor payloads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62288" y="1874520"/>
            <a:ext cx="2670048" cy="1508760"/>
          </a:xfrm>
          <a:prstGeom prst="rect">
            <a:avLst>
              <a:gd name="adj" fmla="val 3636"/>
            </a:avLst>
          </a:prstGeom>
          <a:solidFill>
            <a:srgbClr val="F6F8F3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45168" y="2075688"/>
            <a:ext cx="73152" cy="1106424"/>
          </a:xfrm>
          <a:prstGeom prst="rect">
            <a:avLst/>
          </a:prstGeom>
          <a:solidFill>
            <a:srgbClr val="6FA84B"/>
          </a:solidFill>
          <a:ln/>
        </p:spPr>
      </p:sp>
      <p:sp>
        <p:nvSpPr>
          <p:cNvPr id="19" name="Text 17"/>
          <p:cNvSpPr/>
          <p:nvPr/>
        </p:nvSpPr>
        <p:spPr>
          <a:xfrm>
            <a:off x="9546336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&amp; Order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546336" y="26243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Listings, cart, order lifecycle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639312"/>
            <a:ext cx="2670048" cy="1508760"/>
          </a:xfrm>
          <a:prstGeom prst="rect">
            <a:avLst>
              <a:gd name="adj" fmla="val 3636"/>
            </a:avLst>
          </a:prstGeom>
          <a:solidFill>
            <a:srgbClr val="F6F8F3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840480"/>
            <a:ext cx="73152" cy="1106424"/>
          </a:xfrm>
          <a:prstGeom prst="rect">
            <a:avLst/>
          </a:prstGeom>
          <a:solidFill>
            <a:srgbClr val="6FA84B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382219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Wallet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2688" y="4389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init, wallet, payouts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19856" y="3639312"/>
            <a:ext cx="2670048" cy="1508760"/>
          </a:xfrm>
          <a:prstGeom prst="rect">
            <a:avLst>
              <a:gd name="adj" fmla="val 3636"/>
            </a:avLst>
          </a:prstGeom>
          <a:solidFill>
            <a:srgbClr val="F6F8F3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02736" y="3840480"/>
            <a:ext cx="73152" cy="1106424"/>
          </a:xfrm>
          <a:prstGeom prst="rect">
            <a:avLst/>
          </a:prstGeom>
          <a:solidFill>
            <a:srgbClr val="6FA84B"/>
          </a:solidFill>
          <a:ln/>
        </p:spPr>
      </p:sp>
      <p:sp>
        <p:nvSpPr>
          <p:cNvPr id="27" name="Text 25"/>
          <p:cNvSpPr/>
          <p:nvPr/>
        </p:nvSpPr>
        <p:spPr>
          <a:xfrm>
            <a:off x="3803904" y="382219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Delivery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803904" y="4389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scheduling &amp; tracking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91072" y="3639312"/>
            <a:ext cx="2670048" cy="1508760"/>
          </a:xfrm>
          <a:prstGeom prst="rect">
            <a:avLst>
              <a:gd name="adj" fmla="val 3636"/>
            </a:avLst>
          </a:prstGeom>
          <a:solidFill>
            <a:srgbClr val="F6F8F3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73952" y="3840480"/>
            <a:ext cx="73152" cy="1106424"/>
          </a:xfrm>
          <a:prstGeom prst="rect">
            <a:avLst/>
          </a:prstGeom>
          <a:solidFill>
            <a:srgbClr val="6FA84B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382219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675120" y="4389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push, and email dispatch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62288" y="3639312"/>
            <a:ext cx="2670048" cy="1508760"/>
          </a:xfrm>
          <a:prstGeom prst="rect">
            <a:avLst>
              <a:gd name="adj" fmla="val 3636"/>
            </a:avLst>
          </a:prstGeom>
          <a:solidFill>
            <a:srgbClr val="F6F8F3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45168" y="3840480"/>
            <a:ext cx="73152" cy="1106424"/>
          </a:xfrm>
          <a:prstGeom prst="rect">
            <a:avLst/>
          </a:prstGeom>
          <a:solidFill>
            <a:srgbClr val="6FA84B"/>
          </a:solidFill>
          <a:ln/>
        </p:spPr>
      </p:sp>
      <p:sp>
        <p:nvSpPr>
          <p:cNvPr id="35" name="Text 33"/>
          <p:cNvSpPr/>
          <p:nvPr/>
        </p:nvSpPr>
        <p:spPr>
          <a:xfrm>
            <a:off x="9546336" y="382219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546336" y="4389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forecast, market trends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806440"/>
            <a:ext cx="11064240" cy="594360"/>
          </a:xfrm>
          <a:prstGeom prst="rect">
            <a:avLst>
              <a:gd name="adj" fmla="val 9231"/>
            </a:avLst>
          </a:prstGeom>
          <a:solidFill>
            <a:srgbClr val="153526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5806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7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REST endpoints are versioned under /api/v1/, require a bearer token issued by the User &amp; Identity Service, and return errors in a consistent { code, message, details } JSON structure.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AgriConnect — Internship Presentation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DESIGN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34840"/>
          </a:xfrm>
          <a:prstGeom prst="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6" name="Image 0" descr="assets/icon_sitem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431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Service Integration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2651760"/>
            <a:ext cx="91440" cy="91440"/>
          </a:xfrm>
          <a:prstGeom prst="ellipse">
            <a:avLst/>
          </a:prstGeom>
          <a:solidFill>
            <a:srgbClr val="6FA84B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53288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REST over HTTPS for request/response interactions requiring an immediate result (e.g., submitting an order).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547872"/>
            <a:ext cx="91440" cy="91440"/>
          </a:xfrm>
          <a:prstGeom prst="ellipse">
            <a:avLst/>
          </a:prstGeom>
          <a:solidFill>
            <a:srgbClr val="6FA84B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4290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events over Kafka/RabbitMQ where the originating service doesn't need to wait (e.g., notifications, analytics).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443984"/>
            <a:ext cx="91440" cy="91440"/>
          </a:xfrm>
          <a:prstGeom prst="ellipse">
            <a:avLst/>
          </a:prstGeom>
          <a:solidFill>
            <a:srgbClr val="6FA84B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32511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OpenAPI specification is published per service so teams can generate client stubs and catch breaking changes early.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80760" y="1600200"/>
            <a:ext cx="5532120" cy="4434840"/>
          </a:xfrm>
          <a:prstGeom prst="rect">
            <a:avLst>
              <a:gd name="adj" fmla="val 1443"/>
            </a:avLst>
          </a:prstGeom>
          <a:solidFill>
            <a:srgbClr val="153526"/>
          </a:solidFill>
          <a:ln/>
        </p:spPr>
      </p:sp>
      <p:sp>
        <p:nvSpPr>
          <p:cNvPr id="15" name="Shape 12"/>
          <p:cNvSpPr/>
          <p:nvPr/>
        </p:nvSpPr>
        <p:spPr>
          <a:xfrm>
            <a:off x="6355080" y="1874520"/>
            <a:ext cx="502920" cy="502920"/>
          </a:xfrm>
          <a:prstGeom prst="ellipse">
            <a:avLst/>
          </a:prstGeom>
          <a:solidFill>
            <a:srgbClr val="6FA84B"/>
          </a:solidFill>
          <a:ln/>
        </p:spPr>
      </p:sp>
      <p:pic>
        <p:nvPicPr>
          <p:cNvPr id="16" name="Image 1" descr="assets/icon_exchange_1F4B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60" y="194310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95160" y="1920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Integration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400800" y="2651760"/>
            <a:ext cx="91440" cy="9144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9" name="Text 15"/>
          <p:cNvSpPr/>
          <p:nvPr/>
        </p:nvSpPr>
        <p:spPr>
          <a:xfrm>
            <a:off x="6675120" y="253288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providers (M-Pesa, Stripe) integrate only through the Payment &amp; Wallet Service; callbacks verified via provider signatures.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00800" y="3547872"/>
            <a:ext cx="91440" cy="9144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21" name="Text 17"/>
          <p:cNvSpPr/>
          <p:nvPr/>
        </p:nvSpPr>
        <p:spPr>
          <a:xfrm>
            <a:off x="6675120" y="3429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SMS/USSD gateway abstracted behind the Notification Service — switching providers needs no change elsewhere.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00800" y="4443984"/>
            <a:ext cx="91440" cy="9144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23" name="Text 19"/>
          <p:cNvSpPr/>
          <p:nvPr/>
        </p:nvSpPr>
        <p:spPr>
          <a:xfrm>
            <a:off x="6675120" y="432511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 authenticate via per-device X.509 certificates to AWS IoT Core before payloads reach the platform.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00800" y="5340096"/>
            <a:ext cx="91440" cy="9144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25" name="Text 21"/>
          <p:cNvSpPr/>
          <p:nvPr/>
        </p:nvSpPr>
        <p:spPr>
          <a:xfrm>
            <a:off x="6675120" y="5221224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mapping APIs are cached in Redis to reduce cost and exposure to third-party outages.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AgriConnect — Internship Presentation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DESIGN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Considerations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5" name="Image 0" descr="assets/icon_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647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5544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Access Control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8745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OAuth2/JWT issued by User &amp; Identity Service; RBAC enforced at gateway and re-validated per service.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17920" y="1645920"/>
            <a:ext cx="457200" cy="45720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9" name="Image 1" descr="assets/icon_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7647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2280" y="15544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Security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12280" y="18745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enforced on all traffic; the API Gateway rejects any unencrypted request.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2953512"/>
            <a:ext cx="457200" cy="45720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13" name="Image 2" descr="assets/icon_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07238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86207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43000" y="3182112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and payment fields encrypted at rest (AES-256); secrets managed via a secrets manager.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17920" y="2953512"/>
            <a:ext cx="457200" cy="45720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17" name="Image 3" descr="assets/icon_sitema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307238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286207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Network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12280" y="3182112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and databases run in private subnets with security groups restricting access.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21" name="Image 4" descr="assets/icon_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379976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3000" y="4169664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143000" y="4489704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inbound requests schema-validated at the gateway; per-client rate limiting mitigates abuse.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217920" y="4261104"/>
            <a:ext cx="457200" cy="45720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25" name="Image 5" descr="assets/icon_wifi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4379976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12280" y="4169664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 Security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812280" y="4489704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certificate per field sensor; compromised devices disabled individually.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548640" y="5568696"/>
            <a:ext cx="457200" cy="45720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29" name="Image 6" descr="assets/icon_clipboard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687568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43000" y="547725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1143000" y="5797296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 and order-state changes written to an append-only audit log.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6217920" y="5568696"/>
            <a:ext cx="457200" cy="45720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33" name="Image 7" descr="assets/icon_cloud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5687568"/>
            <a:ext cx="219456" cy="21945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12280" y="547725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Data Integrity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6812280" y="5797296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captured offline is signed locally and validated on sync to detect tampering.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AgriConnect — Internship Presentation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PROTOTYPE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Scope &amp; Code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critical-path modules were implemented as working Node.js prototypes and validated with an automated unit-test suite, using plain, dependency-light JavaScript so logic — not framework wiring — stays the focus.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2331720"/>
          </a:xfrm>
          <a:prstGeom prst="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359152"/>
            <a:ext cx="548640" cy="54864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7" name="Image 0" descr="assets/icon_exchang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50545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5915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&amp; Order Service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063240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validateOrderInput, calculateOrderTotal, createOrder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04672" y="3474720"/>
            <a:ext cx="4837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stock checking, volume-based discount calculation, and order creation — the logic behind steps 2–3 of the 'place order' sequence.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2103120"/>
            <a:ext cx="5349240" cy="2331720"/>
          </a:xfrm>
          <a:prstGeom prst="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19672" y="2359152"/>
            <a:ext cx="548640" cy="548640"/>
          </a:xfrm>
          <a:prstGeom prst="ellipse">
            <a:avLst/>
          </a:prstGeom>
          <a:solidFill>
            <a:srgbClr val="1F4B36"/>
          </a:solidFill>
          <a:ln/>
        </p:spPr>
      </p:sp>
      <p:pic>
        <p:nvPicPr>
          <p:cNvPr id="13" name="Image 1" descr="assets/icon_wifi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50545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35915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Sensor Ingestion Service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19672" y="3063240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A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validateSchema, validateRanges, normalizeSensorReading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519672" y="3474720"/>
            <a:ext cx="4837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malformed or physically implausible sensor readings (e.g., soil moisture &gt; 100%) before they reach the platform.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DESIGN APPROACH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983480"/>
            <a:ext cx="3611880" cy="1234440"/>
          </a:xfrm>
          <a:prstGeom prst="rect">
            <a:avLst>
              <a:gd name="adj" fmla="val 4444"/>
            </a:avLst>
          </a:prstGeom>
          <a:solidFill>
            <a:srgbClr val="153526"/>
          </a:solidFill>
          <a:ln/>
        </p:spPr>
      </p:sp>
      <p:sp>
        <p:nvSpPr>
          <p:cNvPr id="19" name="Text 15"/>
          <p:cNvSpPr/>
          <p:nvPr/>
        </p:nvSpPr>
        <p:spPr>
          <a:xfrm>
            <a:off x="749808" y="512064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Core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49808" y="5440680"/>
            <a:ext cx="32095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7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 for validation &amp; calculation — no external-state mutation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297680" y="4983480"/>
            <a:ext cx="3611880" cy="1234440"/>
          </a:xfrm>
          <a:prstGeom prst="rect">
            <a:avLst>
              <a:gd name="adj" fmla="val 4444"/>
            </a:avLst>
          </a:prstGeom>
          <a:solidFill>
            <a:srgbClr val="153526"/>
          </a:solidFill>
          <a:ln/>
        </p:spPr>
      </p:sp>
      <p:sp>
        <p:nvSpPr>
          <p:cNvPr id="22" name="Text 18"/>
          <p:cNvSpPr/>
          <p:nvPr/>
        </p:nvSpPr>
        <p:spPr>
          <a:xfrm>
            <a:off x="4498848" y="512064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Error Classes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498848" y="5440680"/>
            <a:ext cx="32095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7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OrderValidationError, InsufficientStockError, SensorPayloadError map cleanly to HTTP codes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046720" y="4983480"/>
            <a:ext cx="3611880" cy="1234440"/>
          </a:xfrm>
          <a:prstGeom prst="rect">
            <a:avLst>
              <a:gd name="adj" fmla="val 4444"/>
            </a:avLst>
          </a:prstGeom>
          <a:solidFill>
            <a:srgbClr val="153526"/>
          </a:solidFill>
          <a:ln/>
        </p:spPr>
      </p:sp>
      <p:sp>
        <p:nvSpPr>
          <p:cNvPr id="25" name="Text 21"/>
          <p:cNvSpPr/>
          <p:nvPr/>
        </p:nvSpPr>
        <p:spPr>
          <a:xfrm>
            <a:off x="8247888" y="512064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247888" y="5440680"/>
            <a:ext cx="32095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7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mutations isolated behind a repository interface for isolated unit testing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AgriConnect — Internship Presentation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PROTOTYPE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 Methodology &amp;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24328" cy="1188720"/>
          </a:xfrm>
          <a:prstGeom prst="rect">
            <a:avLst>
              <a:gd name="adj" fmla="val 5385"/>
            </a:avLst>
          </a:prstGeom>
          <a:solidFill>
            <a:srgbClr val="1F4B3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81912"/>
            <a:ext cx="23500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74136" y="1508760"/>
            <a:ext cx="2624328" cy="1188720"/>
          </a:xfrm>
          <a:prstGeom prst="rect">
            <a:avLst>
              <a:gd name="adj" fmla="val 5385"/>
            </a:avLst>
          </a:prstGeom>
          <a:solidFill>
            <a:srgbClr val="1F4B36"/>
          </a:solidFill>
          <a:ln/>
        </p:spPr>
      </p:sp>
      <p:sp>
        <p:nvSpPr>
          <p:cNvPr id="8" name="Text 6"/>
          <p:cNvSpPr/>
          <p:nvPr/>
        </p:nvSpPr>
        <p:spPr>
          <a:xfrm>
            <a:off x="3511296" y="1581912"/>
            <a:ext cx="23500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11296" y="228600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/ branch / line coverage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9632" y="1508760"/>
            <a:ext cx="2624328" cy="1188720"/>
          </a:xfrm>
          <a:prstGeom prst="rect">
            <a:avLst>
              <a:gd name="adj" fmla="val 5385"/>
            </a:avLst>
          </a:prstGeom>
          <a:solidFill>
            <a:srgbClr val="1F4B36"/>
          </a:solidFill>
          <a:ln/>
        </p:spPr>
      </p:sp>
      <p:sp>
        <p:nvSpPr>
          <p:cNvPr id="11" name="Text 9"/>
          <p:cNvSpPr/>
          <p:nvPr/>
        </p:nvSpPr>
        <p:spPr>
          <a:xfrm>
            <a:off x="6336792" y="1581912"/>
            <a:ext cx="23500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36792" y="228600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 (Jest)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25128" y="1508760"/>
            <a:ext cx="2624328" cy="1188720"/>
          </a:xfrm>
          <a:prstGeom prst="rect">
            <a:avLst>
              <a:gd name="adj" fmla="val 5385"/>
            </a:avLst>
          </a:prstGeom>
          <a:solidFill>
            <a:srgbClr val="1F4B36"/>
          </a:solidFill>
          <a:ln/>
        </p:spPr>
      </p:sp>
      <p:sp>
        <p:nvSpPr>
          <p:cNvPr id="14" name="Text 12"/>
          <p:cNvSpPr/>
          <p:nvPr/>
        </p:nvSpPr>
        <p:spPr>
          <a:xfrm>
            <a:off x="9162288" y="1581912"/>
            <a:ext cx="23500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62288" y="228600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on final run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public function was tested against a representative valid case, one case per documented validation rule (boundary and invalid-type cases), and — for createOrder — an integration-style test verifying that a failed validation leaves no side effects. Tests use Jest's toThrow(ErrorClass) to verify the correct, specific error type.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926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BY MODULE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246120"/>
          <a:ext cx="5349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51560"/>
                <a:gridCol w="128016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Ingestion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4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263640" y="4846320"/>
            <a:ext cx="5349240" cy="1051560"/>
          </a:xfrm>
          <a:prstGeom prst="rect">
            <a:avLst>
              <a:gd name="adj" fmla="val 5217"/>
            </a:avLst>
          </a:prstGeom>
          <a:solidFill>
            <a:srgbClr val="F6F8F3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92240" y="49834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 closed: an empty/whitespace-only deviceId was initially untested (96.87% branch coverage) — a dedicated test case brought sensorIngestion.js to 100%.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51206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also included manual stress-testing (20 rapid input variations) and boundary re-checks after each fix.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AgriConnect — Internship Presentation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PROTOTYPE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Encountered &amp; Resolutions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148840"/>
          </a:xfrm>
          <a:prstGeom prst="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55648"/>
            <a:ext cx="457200" cy="457200"/>
          </a:xfrm>
          <a:prstGeom prst="ellipse">
            <a:avLst/>
          </a:prstGeom>
          <a:solidFill>
            <a:srgbClr val="E08A1E"/>
          </a:solidFill>
          <a:ln/>
        </p:spPr>
      </p:sp>
      <p:pic>
        <p:nvPicPr>
          <p:cNvPr id="6" name="Image 0" descr="assets/icon_bu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7452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 on Invalid deviceId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F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supplied a present-but-empty deviceId.
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F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dedicated test case — closed the gap to 100% coverage.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394960" cy="2148840"/>
          </a:xfrm>
          <a:prstGeom prst="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755648"/>
            <a:ext cx="457200" cy="457200"/>
          </a:xfrm>
          <a:prstGeom prst="ellipse">
            <a:avLst/>
          </a:prstGeom>
          <a:solidFill>
            <a:srgbClr val="E08A1E"/>
          </a:solidFill>
          <a:ln/>
        </p:spPr>
      </p:sp>
      <p:pic>
        <p:nvPicPr>
          <p:cNvPr id="11" name="Image 1" descr="assets/icon_cog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87452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737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Precision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46520" y="233172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F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math produced 474.99999999999994 instead of 475.
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F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round2() to round at each intermediate calculation step.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94960" cy="2148840"/>
          </a:xfrm>
          <a:prstGeom prst="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133088"/>
            <a:ext cx="457200" cy="457200"/>
          </a:xfrm>
          <a:prstGeom prst="ellipse">
            <a:avLst/>
          </a:prstGeom>
          <a:solidFill>
            <a:srgbClr val="E08A1E"/>
          </a:solidFill>
          <a:ln/>
        </p:spPr>
      </p:sp>
      <p:pic>
        <p:nvPicPr>
          <p:cNvPr id="16" name="Image 2" descr="assets/icon_sitem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25196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1148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vs. Side-Effect Ordering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77240" y="470916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F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input could trigger a stock lookup before validation.
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F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Reordered so validation always runs first; added a regression-guard test.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3931920"/>
            <a:ext cx="5394960" cy="2148840"/>
          </a:xfrm>
          <a:prstGeom prst="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7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133088"/>
            <a:ext cx="457200" cy="457200"/>
          </a:xfrm>
          <a:prstGeom prst="ellipse">
            <a:avLst/>
          </a:prstGeom>
          <a:solidFill>
            <a:srgbClr val="E08A1E"/>
          </a:solidFill>
          <a:ln/>
        </p:spPr>
      </p:sp>
      <p:pic>
        <p:nvPicPr>
          <p:cNvPr id="21" name="Image 3" descr="assets/icon_clipboar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25196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1148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53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Granularity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46520" y="470916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F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generic Error made failures indistinguishable.
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F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distinct error subclasses mapped to specific HTTP status codes.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AgriConnect — Internship Presentation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3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F4B36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6FA84B"/>
          </a:solidFill>
          <a:ln/>
        </p:spPr>
      </p:sp>
      <p:pic>
        <p:nvPicPr>
          <p:cNvPr id="6" name="Image 0" descr="assets/icon_sitemap_1F4B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8973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37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Requirements-Driven Architecture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34440" y="21031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requirements translated directly into a layered microservices design with a single API Gateway and polyglot data layer matched to each service's data shape.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6FA84B"/>
          </a:solidFill>
          <a:ln/>
        </p:spPr>
      </p:sp>
      <p:pic>
        <p:nvPicPr>
          <p:cNvPr id="10" name="Image 1" descr="assets/icon_check_1F4B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8346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Tested Prototype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34440" y="32004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automated tests across two critical-path modules pass with 100% statement, branch, function, and line coverage.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6FA84B"/>
          </a:solidFill>
          <a:ln/>
        </p:spPr>
      </p:sp>
      <p:pic>
        <p:nvPicPr>
          <p:cNvPr id="14" name="Image 2" descr="assets/icon_rocket_1F4B3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40919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931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Patterns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234440" y="429768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error classes and validation-before-side-effects ordering are designed to carry forward directly into the full Express/MongoDB implementation.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5257800"/>
            <a:ext cx="11064240" cy="0"/>
          </a:xfrm>
          <a:prstGeom prst="line">
            <a:avLst/>
          </a:prstGeom>
          <a:noFill/>
          <a:ln w="12700">
            <a:solidFill>
              <a:srgbClr val="1F4B3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Phase: Full Express/MongoDB implementation of remaining microservices, building on the architecture and validated prototype patterns established in Weeks 2–3.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60807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A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2026-08-25T11:55:08Z</dcterms:created>
  <dcterms:modified xsi:type="dcterms:W3CDTF">2026-08-25T11:55:08Z</dcterms:modified>
</cp:coreProperties>
</file>